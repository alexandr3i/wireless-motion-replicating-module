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3"/>
  </p:sldMasterIdLst>
  <p:notesMasterIdLst>
    <p:notesMasterId r:id="rId19"/>
  </p:notesMasterIdLst>
  <p:handoutMasterIdLst>
    <p:handoutMasterId r:id="rId20"/>
  </p:handoutMasterIdLst>
  <p:sldIdLst>
    <p:sldId id="256" r:id="rId4"/>
    <p:sldId id="257" r:id="rId5"/>
    <p:sldId id="265" r:id="rId6"/>
    <p:sldId id="258" r:id="rId7"/>
    <p:sldId id="267" r:id="rId8"/>
    <p:sldId id="268" r:id="rId9"/>
    <p:sldId id="266" r:id="rId10"/>
    <p:sldId id="264" r:id="rId11"/>
    <p:sldId id="269" r:id="rId12"/>
    <p:sldId id="270" r:id="rId13"/>
    <p:sldId id="271" r:id="rId14"/>
    <p:sldId id="259" r:id="rId15"/>
    <p:sldId id="272" r:id="rId16"/>
    <p:sldId id="273" r:id="rId17"/>
    <p:sldId id="274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800" autoAdjust="0"/>
  </p:normalViewPr>
  <p:slideViewPr>
    <p:cSldViewPr>
      <p:cViewPr varScale="1">
        <p:scale>
          <a:sx n="78" d="100"/>
          <a:sy n="78" d="100"/>
        </p:scale>
        <p:origin x="155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3840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1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>
            <a:extLst>
              <a:ext uri="{FF2B5EF4-FFF2-40B4-BE49-F238E27FC236}">
                <a16:creationId xmlns:a16="http://schemas.microsoft.com/office/drawing/2014/main" id="{3C9880DC-DE89-2B80-DD68-1F437C862A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FB315CEF-920B-4C47-FDC8-9D7735D2B5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40C1E7-ABC1-48C2-A9FA-CF831D5ADDE8}" type="datetimeFigureOut">
              <a:rPr lang="en-US" smtClean="0"/>
              <a:t>07-Mar-25</a:t>
            </a:fld>
            <a:endParaRPr lang="en-US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DA76643C-2E8C-EFD2-9A78-0540FC37850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7A202CC2-3CB8-3450-19C9-5378664A5E6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42AF8-6811-4E3A-96DB-306688161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6262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CBF0355F-2358-41B0-5BC1-6BC04FD14F3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978CA383-FC3D-82E3-E283-8DE6BC4CD62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CB9D541-9857-6FFC-5D87-E8E1183F35B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4037" name="Rectangle 5">
            <a:extLst>
              <a:ext uri="{FF2B5EF4-FFF2-40B4-BE49-F238E27FC236}">
                <a16:creationId xmlns:a16="http://schemas.microsoft.com/office/drawing/2014/main" id="{382CCD82-02F2-77A1-2506-2179BFD6E8F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noProof="0"/>
              <a:t>Click to edit Master text styles</a:t>
            </a:r>
          </a:p>
          <a:p>
            <a:pPr lvl="1"/>
            <a:r>
              <a:rPr lang="en-US" altLang="ro-RO" noProof="0"/>
              <a:t>Second level</a:t>
            </a:r>
          </a:p>
          <a:p>
            <a:pPr lvl="2"/>
            <a:r>
              <a:rPr lang="en-US" altLang="ro-RO" noProof="0"/>
              <a:t>Third level</a:t>
            </a:r>
          </a:p>
          <a:p>
            <a:pPr lvl="3"/>
            <a:r>
              <a:rPr lang="en-US" altLang="ro-RO" noProof="0"/>
              <a:t>Fourth level</a:t>
            </a:r>
          </a:p>
          <a:p>
            <a:pPr lvl="4"/>
            <a:r>
              <a:rPr lang="en-US" altLang="ro-RO" noProof="0"/>
              <a:t>Fifth level</a:t>
            </a:r>
          </a:p>
        </p:txBody>
      </p:sp>
      <p:sp>
        <p:nvSpPr>
          <p:cNvPr id="44038" name="Rectangle 6">
            <a:extLst>
              <a:ext uri="{FF2B5EF4-FFF2-40B4-BE49-F238E27FC236}">
                <a16:creationId xmlns:a16="http://schemas.microsoft.com/office/drawing/2014/main" id="{543FF5E7-7499-6E3C-09E6-8958B6C0E23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4039" name="Rectangle 7">
            <a:extLst>
              <a:ext uri="{FF2B5EF4-FFF2-40B4-BE49-F238E27FC236}">
                <a16:creationId xmlns:a16="http://schemas.microsoft.com/office/drawing/2014/main" id="{F83A0AEC-C2E6-FC0B-2AF6-1801A52BDE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847F51A-5B3D-46A5-B4B8-9598C8795986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312AE605-30FF-D515-FCB4-D1C1777E5B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564C289-5E37-4A79-A54D-D8CF310E58D7}" type="slidenum">
              <a:rPr lang="en-US" altLang="ro-RO" smtClean="0">
                <a:latin typeface="Arial" panose="020B0604020202020204" pitchFamily="34" charset="0"/>
              </a:rPr>
              <a:pPr/>
              <a:t>2</a:t>
            </a:fld>
            <a:endParaRPr lang="en-US" altLang="ro-RO">
              <a:latin typeface="Arial" panose="020B0604020202020204" pitchFamily="34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07812F83-A5DA-D8CB-FA89-3166A33BD2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F9E0F0BA-8DA0-54CC-5377-A3E0980449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ro-RO" altLang="ro-RO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847F51A-5B3D-46A5-B4B8-9598C8795986}" type="slidenum">
              <a:rPr lang="en-US" altLang="ro-RO" smtClean="0"/>
              <a:pPr>
                <a:defRPr/>
              </a:pPr>
              <a:t>3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3510067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0538A31F-92D6-545F-C62E-9BE2165552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CAD27AE-FCB6-4627-A793-B82DB5CF0B34}" type="slidenum">
              <a:rPr lang="en-US" altLang="ro-RO" smtClean="0">
                <a:latin typeface="Arial" panose="020B0604020202020204" pitchFamily="34" charset="0"/>
              </a:rPr>
              <a:pPr/>
              <a:t>4</a:t>
            </a:fld>
            <a:endParaRPr lang="en-US" altLang="ro-RO">
              <a:latin typeface="Arial" panose="020B0604020202020204" pitchFamily="34" charset="0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9726F4DD-1867-0D9F-D9F9-71B42530F7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6FFE74EC-A552-1101-7AF9-B90E575431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ro-RO" altLang="ro-RO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618AF0DF-5B17-1112-6A7D-A5DDD52ADA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2F4D12E-727B-46C8-97E0-68DEF3972CBF}" type="slidenum">
              <a:rPr lang="en-US" altLang="ro-RO" smtClean="0">
                <a:latin typeface="Arial" panose="020B0604020202020204" pitchFamily="34" charset="0"/>
              </a:rPr>
              <a:pPr/>
              <a:t>7</a:t>
            </a:fld>
            <a:endParaRPr lang="en-US" altLang="ro-RO">
              <a:latin typeface="Arial" panose="020B0604020202020204" pitchFamily="34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FEE62FDF-94F1-CAF9-9930-F2679DA71E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D7662FE4-FF1F-D5D9-6469-0CC993B62E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ro-RO" altLang="ro-RO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80CD9D11-2A49-5C98-B7EE-38FB46B3C0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3017536-AF02-4A64-A273-0EFB09E7859A}" type="slidenum">
              <a:rPr lang="en-US" altLang="ro-RO" smtClean="0">
                <a:latin typeface="Arial" panose="020B0604020202020204" pitchFamily="34" charset="0"/>
              </a:rPr>
              <a:pPr/>
              <a:t>8</a:t>
            </a:fld>
            <a:endParaRPr lang="en-US" altLang="ro-RO">
              <a:latin typeface="Arial" panose="020B0604020202020204" pitchFamily="34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CA21D5D9-5C81-582C-0292-6A75B76C3F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E1910A80-FF4B-031D-6B16-DE399F86D1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ro-RO">
                <a:latin typeface="Arial" panose="020B0604020202020204" pitchFamily="34" charset="0"/>
              </a:rPr>
              <a:t>Slide obligatoriu</a:t>
            </a:r>
          </a:p>
          <a:p>
            <a:pPr eaLnBrk="1" hangingPunct="1"/>
            <a:endParaRPr lang="en-US" altLang="ro-RO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26F176DD-EE41-8537-3FF2-38A74D4F1E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65A5FB3E-B1BF-43EB-B229-500D232FCF51}" type="slidenum">
              <a:rPr lang="en-US" altLang="ro-RO" smtClean="0">
                <a:latin typeface="Arial" panose="020B0604020202020204" pitchFamily="34" charset="0"/>
              </a:rPr>
              <a:pPr/>
              <a:t>12</a:t>
            </a:fld>
            <a:endParaRPr lang="en-US" altLang="ro-RO">
              <a:latin typeface="Arial" panose="020B0604020202020204" pitchFamily="34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FD36EB23-94A2-A4D0-2168-F15934D353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2D2C83BF-F8A5-EA11-5516-D134DB8979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ro-RO">
                <a:latin typeface="Arial" panose="020B0604020202020204" pitchFamily="34" charset="0"/>
              </a:rPr>
              <a:t>Slide obligatoriu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285CBFCE-6A8F-1133-3787-AB1ECD63D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8" descr="logo ETTI">
            <a:extLst>
              <a:ext uri="{FF2B5EF4-FFF2-40B4-BE49-F238E27FC236}">
                <a16:creationId xmlns:a16="http://schemas.microsoft.com/office/drawing/2014/main" id="{5C1244A2-A6BB-99A7-97FD-F9E04EA03839}"/>
              </a:ext>
            </a:extLst>
          </p:cNvPr>
          <p:cNvPicPr>
            <a:picLocks noChangeAspect="1" noChangeArrowheads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2" y="79895"/>
            <a:ext cx="619125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10">
            <a:extLst>
              <a:ext uri="{FF2B5EF4-FFF2-40B4-BE49-F238E27FC236}">
                <a16:creationId xmlns:a16="http://schemas.microsoft.com/office/drawing/2014/main" id="{B7B07AC4-92DE-7354-6322-45732B12025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2000" y="106363"/>
            <a:ext cx="762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>
              <a:defRPr/>
            </a:pPr>
            <a:r>
              <a:rPr lang="ro-RO" altLang="ro-RO" sz="1200" noProof="0" dirty="0"/>
              <a:t>Universitatea POLITEHNICA din București</a:t>
            </a:r>
          </a:p>
          <a:p>
            <a:pPr algn="ctr">
              <a:defRPr/>
            </a:pPr>
            <a:r>
              <a:rPr lang="ro-RO" altLang="ro-RO" sz="1200" noProof="0" dirty="0"/>
              <a:t>Facultatea de Electronică, Telecomunicații și Tehnologia Informației</a:t>
            </a:r>
          </a:p>
        </p:txBody>
      </p:sp>
      <p:pic>
        <p:nvPicPr>
          <p:cNvPr id="6" name="Picture 3" descr="D:\logo_ieee_ro.jpg">
            <a:extLst>
              <a:ext uri="{FF2B5EF4-FFF2-40B4-BE49-F238E27FC236}">
                <a16:creationId xmlns:a16="http://schemas.microsoft.com/office/drawing/2014/main" id="{2A689C06-C0A3-7DE8-19AE-0BD5D86D00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250" y="100013"/>
            <a:ext cx="122555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4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 altLang="ro-RO" noProof="0"/>
              <a:t>Click to edit Master title style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505200"/>
            <a:ext cx="7772400" cy="2362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1500"/>
            </a:lvl1pPr>
          </a:lstStyle>
          <a:p>
            <a:pPr lvl="0"/>
            <a:r>
              <a:rPr lang="en-US" altLang="ro-RO" noProof="0"/>
              <a:t>Click to edit Master subtitle style</a:t>
            </a:r>
          </a:p>
        </p:txBody>
      </p:sp>
      <p:pic>
        <p:nvPicPr>
          <p:cNvPr id="27650" name="Picture 1" descr="ANTET CABINET RECTOR 2018">
            <a:extLst>
              <a:ext uri="{FF2B5EF4-FFF2-40B4-BE49-F238E27FC236}">
                <a16:creationId xmlns:a16="http://schemas.microsoft.com/office/drawing/2014/main" id="{456B4473-01D5-EB61-2605-B42466DF777A}"/>
              </a:ext>
            </a:extLst>
          </p:cNvPr>
          <p:cNvPicPr>
            <a:picLocks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4287"/>
            <a:ext cx="757237" cy="7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1510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CCBFDFCC-B896-7E50-C1C9-E514DE63F18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D0C053-07AE-411F-AF49-F7DA04B74E40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3058705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D064D6C9-DC9B-69A5-2E7C-B571E6FBCCE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A8B7FA-EDFE-4BF1-9040-307FBB2FB124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169988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219200"/>
            <a:ext cx="41910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1910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1506E3AD-F8F7-AEBA-711E-C17F06132BA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318EBB-4205-4A32-8CB0-4BD0B61804FD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3764152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8EA2AA0B-B53A-50E5-BEBE-645070C8F98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84EE21-DEA7-466C-BE2D-CB8AC7E6C7E8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2312460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1CD7168E-E2F2-97CE-7BD8-D7D98DBCB40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E4C8-E758-41BE-BD5C-8D33F87552C7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2706246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>
            <a:extLst>
              <a:ext uri="{FF2B5EF4-FFF2-40B4-BE49-F238E27FC236}">
                <a16:creationId xmlns:a16="http://schemas.microsoft.com/office/drawing/2014/main" id="{4B9735E3-9E86-063E-0642-CD6A6BB31BF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547AC1-D87D-470A-9AC4-FCC859AD2361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558212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338F26E-2CDE-2100-ED60-B44B30145F3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B65625-4877-4FA2-A602-1CE172DF61A9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441638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o-RO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3DEEDF92-455C-FA20-B606-920ACFD2770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B39F92-D1A7-457D-B256-AB683315549F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147740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9D1D9928-8C15-C39F-4A2D-A79A903DFE9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A9822C-B861-4D8C-A3D2-E11D458F415C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811182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228600"/>
            <a:ext cx="21336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228600"/>
            <a:ext cx="62484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8CAA7493-F06D-7C72-FACE-ED56A426F2A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19A9B3-3ACD-43DF-B80A-2891BAE972C5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566675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70FF808-53E5-845D-1526-83B5B5A82E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228600"/>
            <a:ext cx="8534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9CC569D-6003-52E8-5C4C-DF64D4FDAE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219200"/>
            <a:ext cx="85344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/>
              <a:t>Click to edit Master text styles</a:t>
            </a:r>
          </a:p>
          <a:p>
            <a:pPr lvl="1"/>
            <a:r>
              <a:rPr lang="en-US" altLang="ro-RO"/>
              <a:t>Second level</a:t>
            </a:r>
          </a:p>
          <a:p>
            <a:pPr lvl="2"/>
            <a:r>
              <a:rPr lang="en-US" altLang="ro-RO"/>
              <a:t>Third level</a:t>
            </a:r>
          </a:p>
          <a:p>
            <a:pPr lvl="3"/>
            <a:r>
              <a:rPr lang="en-US" altLang="ro-RO"/>
              <a:t>Fourth level</a:t>
            </a:r>
          </a:p>
          <a:p>
            <a:pPr lvl="4"/>
            <a:r>
              <a:rPr lang="en-US" altLang="ro-RO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B168F8FB-5E4E-F542-3960-EB368B12C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957263"/>
            <a:ext cx="8534400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130" y="0"/>
                </a:lnTo>
                <a:lnTo>
                  <a:pt x="130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E3943316-340C-ED70-E15D-69E395B9BC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800" y="6400800"/>
            <a:ext cx="8534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55" name="Rectangle 7">
            <a:extLst>
              <a:ext uri="{FF2B5EF4-FFF2-40B4-BE49-F238E27FC236}">
                <a16:creationId xmlns:a16="http://schemas.microsoft.com/office/drawing/2014/main" id="{E1EE2DBE-EB65-5518-6D2F-02FABF60658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4800" y="6477000"/>
            <a:ext cx="80010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r>
              <a:rPr lang="en-US" altLang="ro-RO" dirty="0"/>
              <a:t>TEF 2023</a:t>
            </a:r>
          </a:p>
        </p:txBody>
      </p:sp>
      <p:sp>
        <p:nvSpPr>
          <p:cNvPr id="104456" name="Rectangle 8">
            <a:extLst>
              <a:ext uri="{FF2B5EF4-FFF2-40B4-BE49-F238E27FC236}">
                <a16:creationId xmlns:a16="http://schemas.microsoft.com/office/drawing/2014/main" id="{C617B7BC-2388-7B80-566D-C800093E8A2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82000" y="6477000"/>
            <a:ext cx="4572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FC3AEFB-4576-4F09-9A92-9DA79A768A77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75" r:id="rId2"/>
    <p:sldLayoutId id="2147483876" r:id="rId3"/>
    <p:sldLayoutId id="2147483877" r:id="rId4"/>
    <p:sldLayoutId id="2147483878" r:id="rId5"/>
    <p:sldLayoutId id="2147483879" r:id="rId6"/>
    <p:sldLayoutId id="2147483880" r:id="rId7"/>
    <p:sldLayoutId id="2147483881" r:id="rId8"/>
    <p:sldLayoutId id="2147483882" r:id="rId9"/>
    <p:sldLayoutId id="2147483883" r:id="rId10"/>
    <p:sldLayoutId id="2147483884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16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14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12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95421B4-E3A0-7AD4-B64F-170A59839C0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GB" sz="3200" dirty="0">
                <a:solidFill>
                  <a:schemeClr val="tx1"/>
                </a:solidFill>
              </a:rPr>
              <a:t>Wireless MOTION REPLICATING MODULE</a:t>
            </a:r>
            <a:endParaRPr lang="ro-RO" altLang="ro-RO" b="1" dirty="0">
              <a:solidFill>
                <a:schemeClr val="tx1"/>
              </a:solidFill>
            </a:endParaRPr>
          </a:p>
        </p:txBody>
      </p:sp>
      <p:sp>
        <p:nvSpPr>
          <p:cNvPr id="4099" name="Rectangle 5">
            <a:extLst>
              <a:ext uri="{FF2B5EF4-FFF2-40B4-BE49-F238E27FC236}">
                <a16:creationId xmlns:a16="http://schemas.microsoft.com/office/drawing/2014/main" id="{D8E60E3A-5386-F992-D5C7-F4D48C658EA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ro-RO" altLang="ro-RO" dirty="0"/>
              <a:t>Student</a:t>
            </a:r>
            <a:r>
              <a:rPr lang="en-US" altLang="ro-RO" dirty="0"/>
              <a:t>s</a:t>
            </a:r>
            <a:r>
              <a:rPr lang="ro-RO" altLang="ro-RO" dirty="0"/>
              <a:t>: </a:t>
            </a:r>
            <a:r>
              <a:rPr lang="en-US" altLang="ro-RO" dirty="0"/>
              <a:t>CHIVU RARES IOAN, MITILOAGA-CAMBEREA GABRIELA ALEXANDRA, ANGHELUTA ANDREI ALEXANDRU</a:t>
            </a:r>
            <a:endParaRPr lang="ro-RO" altLang="ro-RO" dirty="0"/>
          </a:p>
          <a:p>
            <a:pPr eaLnBrk="1" hangingPunct="1"/>
            <a:endParaRPr lang="ro-RO" altLang="ro-RO" dirty="0"/>
          </a:p>
          <a:p>
            <a:pPr eaLnBrk="1" hangingPunct="1"/>
            <a:endParaRPr lang="ro-RO" altLang="ro-RO" dirty="0"/>
          </a:p>
          <a:p>
            <a:pPr eaLnBrk="1" hangingPunct="1"/>
            <a:endParaRPr lang="ro-RO" altLang="ro-RO" dirty="0"/>
          </a:p>
          <a:p>
            <a:pPr eaLnBrk="1" hangingPunct="1"/>
            <a:r>
              <a:rPr lang="en-US" altLang="ro-RO" dirty="0"/>
              <a:t>Scientific coordinator</a:t>
            </a:r>
            <a:r>
              <a:rPr lang="ro-RO" altLang="ro-RO" dirty="0"/>
              <a:t>:</a:t>
            </a:r>
            <a:r>
              <a:rPr lang="en-US" altLang="ro-RO" dirty="0"/>
              <a:t> </a:t>
            </a:r>
            <a:r>
              <a:rPr lang="en-US" altLang="ro-RO" dirty="0" err="1"/>
              <a:t>conf.dr.ing</a:t>
            </a:r>
            <a:r>
              <a:rPr lang="en-US" altLang="ro-RO" dirty="0"/>
              <a:t> NASTAC DUMITRU IULIAN</a:t>
            </a:r>
            <a:endParaRPr lang="ro-RO" altLang="ro-RO" dirty="0"/>
          </a:p>
        </p:txBody>
      </p:sp>
      <p:sp>
        <p:nvSpPr>
          <p:cNvPr id="4100" name="Rectangle 5">
            <a:extLst>
              <a:ext uri="{FF2B5EF4-FFF2-40B4-BE49-F238E27FC236}">
                <a16:creationId xmlns:a16="http://schemas.microsoft.com/office/drawing/2014/main" id="{44451EB9-40D5-6ACB-9F85-C9F4336D41E2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0" y="6324600"/>
            <a:ext cx="9144000" cy="533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ro-RO" altLang="ro-RO" b="1" dirty="0"/>
              <a:t>Sesiunea de Comunicări Științifice Studențești, 5 mai 2023</a:t>
            </a:r>
          </a:p>
          <a:p>
            <a:pPr algn="ctr"/>
            <a:r>
              <a:rPr lang="ro-RO" altLang="ro-RO" b="1" dirty="0"/>
              <a:t>Secțiunea 04-2, </a:t>
            </a:r>
            <a:r>
              <a:rPr lang="ro-RO" altLang="en-US" b="1" dirty="0"/>
              <a:t>TEHNOLOGIE ELECTRONICĂ, FIABILITATE ȘI PACKAGING ELECTRONIC</a:t>
            </a:r>
            <a:endParaRPr lang="ro-RO" altLang="ro-RO" b="1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4">
            <a:extLst>
              <a:ext uri="{FF2B5EF4-FFF2-40B4-BE49-F238E27FC236}">
                <a16:creationId xmlns:a16="http://schemas.microsoft.com/office/drawing/2014/main" id="{5236A46E-B13D-33F4-89BC-43B8A984C7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CF9DE65-C1AC-42BE-B76F-638EBD0D6C27}" type="slidenum">
              <a:rPr lang="en-US" altLang="ro-RO" smtClean="0"/>
              <a:pPr/>
              <a:t>2</a:t>
            </a:fld>
            <a:endParaRPr lang="en-US" altLang="ro-RO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8A8CC0AF-647A-1A82-6F12-259546DE6B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14325"/>
            <a:ext cx="8534400" cy="523875"/>
          </a:xfrm>
        </p:spPr>
        <p:txBody>
          <a:bodyPr/>
          <a:lstStyle/>
          <a:p>
            <a:pPr eaLnBrk="1" hangingPunct="1"/>
            <a:r>
              <a:rPr lang="en-US" altLang="ro-RO" dirty="0"/>
              <a:t>Table of contents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1963191E-70AB-19E0-6136-8D849EDBE3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ro-RO" dirty="0"/>
              <a:t>Concept of work;</a:t>
            </a:r>
            <a:endParaRPr lang="ro-RO" altLang="ro-RO" dirty="0"/>
          </a:p>
          <a:p>
            <a:pPr eaLnBrk="1" hangingPunct="1"/>
            <a:endParaRPr lang="ro-RO" altLang="ro-RO" dirty="0"/>
          </a:p>
          <a:p>
            <a:pPr eaLnBrk="1" hangingPunct="1"/>
            <a:r>
              <a:rPr lang="ro-RO" altLang="ro-RO" dirty="0"/>
              <a:t>C</a:t>
            </a:r>
            <a:r>
              <a:rPr lang="en-US" altLang="ro-RO" dirty="0" err="1"/>
              <a:t>omponents</a:t>
            </a:r>
            <a:r>
              <a:rPr lang="en-US" altLang="ro-RO" dirty="0"/>
              <a:t>;</a:t>
            </a:r>
            <a:endParaRPr lang="ro-RO" altLang="ro-RO" dirty="0"/>
          </a:p>
          <a:p>
            <a:pPr eaLnBrk="1" hangingPunct="1"/>
            <a:endParaRPr lang="ro-RO" altLang="ro-RO" dirty="0"/>
          </a:p>
          <a:p>
            <a:pPr eaLnBrk="1" hangingPunct="1"/>
            <a:r>
              <a:rPr lang="en-US" altLang="ro-RO" dirty="0"/>
              <a:t>Bluetooth connection;</a:t>
            </a:r>
            <a:endParaRPr lang="ro-RO" altLang="ro-RO" dirty="0"/>
          </a:p>
          <a:p>
            <a:pPr eaLnBrk="1" hangingPunct="1"/>
            <a:endParaRPr lang="ro-RO" altLang="ro-RO" dirty="0"/>
          </a:p>
          <a:p>
            <a:pPr eaLnBrk="1" hangingPunct="1"/>
            <a:r>
              <a:rPr lang="en-US" altLang="ro-RO" dirty="0"/>
              <a:t>Code libraries used;</a:t>
            </a:r>
            <a:endParaRPr lang="ro-RO" altLang="ro-RO" dirty="0"/>
          </a:p>
          <a:p>
            <a:pPr eaLnBrk="1" hangingPunct="1"/>
            <a:endParaRPr lang="ro-RO" altLang="ro-RO" dirty="0"/>
          </a:p>
          <a:p>
            <a:pPr eaLnBrk="1" hangingPunct="1"/>
            <a:r>
              <a:rPr lang="en-US" altLang="ro-RO" dirty="0"/>
              <a:t>Conclusions;</a:t>
            </a:r>
            <a:endParaRPr lang="ro-RO" altLang="ro-RO" dirty="0"/>
          </a:p>
          <a:p>
            <a:pPr eaLnBrk="1" hangingPunct="1"/>
            <a:endParaRPr lang="ro-RO" altLang="ro-RO" dirty="0"/>
          </a:p>
          <a:p>
            <a:pPr eaLnBrk="1" hangingPunct="1"/>
            <a:r>
              <a:rPr lang="en-US" altLang="ro-RO" dirty="0"/>
              <a:t>References.</a:t>
            </a:r>
            <a:endParaRPr lang="ro-RO" altLang="ro-RO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4">
            <a:extLst>
              <a:ext uri="{FF2B5EF4-FFF2-40B4-BE49-F238E27FC236}">
                <a16:creationId xmlns:a16="http://schemas.microsoft.com/office/drawing/2014/main" id="{FF1C0007-1A2D-A166-3DF6-497E9C1ADA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D7C651A-A5FE-4136-A442-2FF88070C78B}" type="slidenum">
              <a:rPr lang="en-US" altLang="ro-RO" smtClean="0"/>
              <a:pPr/>
              <a:t>3</a:t>
            </a:fld>
            <a:endParaRPr lang="en-US" altLang="ro-RO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7FB55E89-0FDB-6310-7B3C-A3B2B37679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dirty="0"/>
              <a:t>Concept of work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CFFB7D2B-2276-76E3-4853-5CD4A660DE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Although human and machine presences have their own place in this world when it comes to capabilities, neither can hold the candle to the other in some high-risk.</a:t>
            </a:r>
          </a:p>
          <a:p>
            <a:pPr eaLnBrk="1" hangingPunct="1"/>
            <a:endParaRPr lang="en-US" altLang="ro-RO" dirty="0"/>
          </a:p>
          <a:p>
            <a:pPr eaLnBrk="1" hangingPunct="1"/>
            <a:endParaRPr lang="en-US" altLang="ro-RO" dirty="0"/>
          </a:p>
          <a:p>
            <a:pPr eaLnBrk="1" hangingPunct="1"/>
            <a:endParaRPr lang="en-US" altLang="ro-RO" dirty="0"/>
          </a:p>
          <a:p>
            <a:pPr eaLnBrk="1" hangingPunct="1"/>
            <a:endParaRPr lang="en-US" altLang="ro-RO" dirty="0"/>
          </a:p>
          <a:p>
            <a:pPr marL="0" indent="0" eaLnBrk="1" hangingPunct="1">
              <a:buNone/>
            </a:pPr>
            <a:endParaRPr lang="en-US" altLang="ro-RO" dirty="0"/>
          </a:p>
          <a:p>
            <a:pPr eaLnBrk="1" hangingPunct="1"/>
            <a:r>
              <a:rPr lang="en-US" dirty="0"/>
              <a:t>By putting them together, we can achieve the highest chance of success. One area where this argument is especially applicable is constituted by all the high-risk environments humans must operate in (i.e.: battlefields, fires, high-altitude spaces etc.)</a:t>
            </a:r>
          </a:p>
          <a:p>
            <a:pPr eaLnBrk="1" hangingPunct="1"/>
            <a:endParaRPr lang="ro-RO" altLang="ro-RO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4">
            <a:extLst>
              <a:ext uri="{FF2B5EF4-FFF2-40B4-BE49-F238E27FC236}">
                <a16:creationId xmlns:a16="http://schemas.microsoft.com/office/drawing/2014/main" id="{7ECA9B75-F9E8-605D-253F-251E91330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9580C44-8867-47E4-BF3D-5A97D43D79B8}" type="slidenum">
              <a:rPr lang="en-US" altLang="ro-RO" smtClean="0"/>
              <a:pPr/>
              <a:t>4</a:t>
            </a:fld>
            <a:endParaRPr lang="en-US" altLang="ro-RO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0D9CC713-D68A-3608-7962-1E462E1377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dirty="0"/>
              <a:t>Components 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78E2502D-18AC-C574-7BDC-94A61E5D6C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1x Arduino Leonardo microcontroller</a:t>
            </a:r>
          </a:p>
          <a:p>
            <a:pPr eaLnBrk="1" hangingPunct="1"/>
            <a:endParaRPr lang="en-US" altLang="ro-RO" dirty="0"/>
          </a:p>
          <a:p>
            <a:pPr eaLnBrk="1" hangingPunct="1"/>
            <a:endParaRPr lang="en-US" altLang="ro-RO" dirty="0"/>
          </a:p>
          <a:p>
            <a:pPr eaLnBrk="1" hangingPunct="1"/>
            <a:endParaRPr lang="en-US" altLang="ro-RO" dirty="0"/>
          </a:p>
          <a:p>
            <a:pPr eaLnBrk="1" hangingPunct="1"/>
            <a:endParaRPr lang="en-US" altLang="ro-RO" dirty="0"/>
          </a:p>
          <a:p>
            <a:pPr eaLnBrk="1" hangingPunct="1"/>
            <a:endParaRPr lang="en-US" altLang="ro-RO" dirty="0"/>
          </a:p>
          <a:p>
            <a:pPr eaLnBrk="1" hangingPunct="1"/>
            <a:endParaRPr lang="en-US" altLang="ro-RO" dirty="0"/>
          </a:p>
          <a:p>
            <a:pPr eaLnBrk="1" hangingPunct="1"/>
            <a:r>
              <a:rPr lang="en-US" dirty="0"/>
              <a:t>1x ESP32 microcontroller</a:t>
            </a:r>
          </a:p>
          <a:p>
            <a:pPr eaLnBrk="1" hangingPunct="1"/>
            <a:endParaRPr lang="en-US" altLang="ro-RO" dirty="0"/>
          </a:p>
          <a:p>
            <a:pPr eaLnBrk="1" hangingPunct="1"/>
            <a:endParaRPr lang="en-US" altLang="ro-RO" dirty="0"/>
          </a:p>
          <a:p>
            <a:pPr eaLnBrk="1" hangingPunct="1"/>
            <a:endParaRPr lang="en-US" altLang="ro-RO" dirty="0"/>
          </a:p>
        </p:txBody>
      </p:sp>
      <p:pic>
        <p:nvPicPr>
          <p:cNvPr id="2" name="Picture 1" descr="Graphical user interface, diagram&#10;&#10;Description automatically generated with medium confidence">
            <a:extLst>
              <a:ext uri="{FF2B5EF4-FFF2-40B4-BE49-F238E27FC236}">
                <a16:creationId xmlns:a16="http://schemas.microsoft.com/office/drawing/2014/main" id="{27552727-7245-CFC6-A7C7-9E2D292367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86" t="3609" r="3119" b="8457"/>
          <a:stretch/>
        </p:blipFill>
        <p:spPr>
          <a:xfrm>
            <a:off x="1470733" y="1600200"/>
            <a:ext cx="2913851" cy="2209800"/>
          </a:xfrm>
          <a:prstGeom prst="rect">
            <a:avLst/>
          </a:prstGeom>
        </p:spPr>
      </p:pic>
      <p:pic>
        <p:nvPicPr>
          <p:cNvPr id="3" name="Picture 2" descr="A close-up of a computer&#10;&#10;Description automatically generated with low confidence">
            <a:extLst>
              <a:ext uri="{FF2B5EF4-FFF2-40B4-BE49-F238E27FC236}">
                <a16:creationId xmlns:a16="http://schemas.microsoft.com/office/drawing/2014/main" id="{E0443A0F-2441-3F0F-0243-B1686A2D011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030" b="8347"/>
          <a:stretch/>
        </p:blipFill>
        <p:spPr>
          <a:xfrm>
            <a:off x="1813248" y="4381622"/>
            <a:ext cx="2228819" cy="1752356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C1842-33AB-9D0B-E3C7-666021FF7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7478"/>
            <a:ext cx="8534400" cy="609600"/>
          </a:xfrm>
        </p:spPr>
        <p:txBody>
          <a:bodyPr/>
          <a:lstStyle/>
          <a:p>
            <a:r>
              <a:rPr lang="en-US" dirty="0"/>
              <a:t>Components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0F1E9-482C-B697-7D71-5312ED654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1x MPU 6050 accelerometer/gyroscope;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526EB-FFA6-F1BC-A99D-3692A0E9AF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D0C053-07AE-411F-AF49-F7DA04B74E40}" type="slidenum">
              <a:rPr lang="en-US" altLang="ro-RO" smtClean="0"/>
              <a:pPr>
                <a:defRPr/>
              </a:pPr>
              <a:t>5</a:t>
            </a:fld>
            <a:endParaRPr lang="en-US" altLang="ro-RO"/>
          </a:p>
        </p:txBody>
      </p:sp>
      <p:pic>
        <p:nvPicPr>
          <p:cNvPr id="5" name="Picture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BFCDCB2F-41B1-D3F3-6A6E-EE151FD4BA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5" r="1510"/>
          <a:stretch/>
        </p:blipFill>
        <p:spPr>
          <a:xfrm>
            <a:off x="1447800" y="2159292"/>
            <a:ext cx="4779818" cy="322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810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EAE67-31A1-CA91-7424-169390E21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6F0D6-7A20-168A-68A1-178B7542E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1x ZS-040HC-05/-06 Bluetooth module;</a:t>
            </a:r>
          </a:p>
          <a:p>
            <a:endParaRPr lang="en-US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FAE1DA-F798-C6D3-AB4A-D3A762BFAF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D0C053-07AE-411F-AF49-F7DA04B74E40}" type="slidenum">
              <a:rPr lang="en-US" altLang="ro-RO" smtClean="0"/>
              <a:pPr>
                <a:defRPr/>
              </a:pPr>
              <a:t>6</a:t>
            </a:fld>
            <a:endParaRPr lang="en-US" altLang="ro-RO"/>
          </a:p>
        </p:txBody>
      </p:sp>
      <p:pic>
        <p:nvPicPr>
          <p:cNvPr id="5" name="Picture 4" descr="Arduino and HC-06 (ZS-040) | Martyn Currey">
            <a:extLst>
              <a:ext uri="{FF2B5EF4-FFF2-40B4-BE49-F238E27FC236}">
                <a16:creationId xmlns:a16="http://schemas.microsoft.com/office/drawing/2014/main" id="{95FDC31F-89DD-C39F-66BE-352493ECD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168575"/>
            <a:ext cx="2921614" cy="3206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7558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4">
            <a:extLst>
              <a:ext uri="{FF2B5EF4-FFF2-40B4-BE49-F238E27FC236}">
                <a16:creationId xmlns:a16="http://schemas.microsoft.com/office/drawing/2014/main" id="{7A6B3E9A-3178-FE40-8FE0-7EBC11AD6E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E82279F-A551-46AF-8F59-8A0F9FC252EF}" type="slidenum">
              <a:rPr lang="en-US" altLang="ro-RO" smtClean="0"/>
              <a:pPr/>
              <a:t>7</a:t>
            </a:fld>
            <a:endParaRPr lang="en-US" altLang="ro-RO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59416283-730F-5D18-4D64-6DB2A79A91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Components</a:t>
            </a:r>
            <a:endParaRPr lang="en-US" altLang="ro-RO" dirty="0"/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2AD19D7C-3935-A812-1CA4-4AFD9339AB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2x SG92R micro servo motors;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rgbClr val="3D3D3D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eaLnBrk="1" hangingPunct="1"/>
            <a:endParaRPr lang="en-US" altLang="ro-RO" dirty="0"/>
          </a:p>
          <a:p>
            <a:pPr eaLnBrk="1" hangingPunct="1"/>
            <a:endParaRPr lang="en-US" altLang="ro-RO" dirty="0"/>
          </a:p>
          <a:p>
            <a:pPr eaLnBrk="1" hangingPunct="1"/>
            <a:endParaRPr lang="en-US" altLang="ro-RO" dirty="0"/>
          </a:p>
          <a:p>
            <a:pPr marL="0" indent="0" eaLnBrk="1" hangingPunct="1">
              <a:buNone/>
            </a:pPr>
            <a:endParaRPr lang="en-US" altLang="ro-RO" dirty="0"/>
          </a:p>
          <a:p>
            <a:pPr marR="0" lvl="0" defTabSz="457200" eaLnBrk="1" latinLnBrk="0" hangingPunct="1">
              <a:lnSpc>
                <a:spcPct val="100000"/>
              </a:lnSpc>
              <a:buSzPct val="92000"/>
              <a:tabLst/>
              <a:defRPr/>
            </a:pPr>
            <a:r>
              <a:rPr lang="en-US" kern="1200" dirty="0">
                <a:solidFill>
                  <a:srgbClr val="3D3D3D"/>
                </a:solidFill>
                <a:latin typeface="Gill Sans MT" panose="020B0502020104020203"/>
              </a:rPr>
              <a:t>Male-male cables;</a:t>
            </a:r>
          </a:p>
          <a:p>
            <a:pPr marR="0" lvl="0" defTabSz="457200" eaLnBrk="1" latinLnBrk="0" hangingPunct="1">
              <a:lnSpc>
                <a:spcPct val="100000"/>
              </a:lnSpc>
              <a:buSzPct val="92000"/>
              <a:tabLst/>
              <a:defRPr/>
            </a:pPr>
            <a:r>
              <a:rPr lang="en-US" kern="1200" dirty="0">
                <a:solidFill>
                  <a:srgbClr val="3D3D3D"/>
                </a:solidFill>
                <a:latin typeface="Gill Sans MT" panose="020B0502020104020203"/>
              </a:rPr>
              <a:t>Male-female jumper cables;</a:t>
            </a:r>
          </a:p>
          <a:p>
            <a:pPr marR="0" lvl="0" defTabSz="457200" eaLnBrk="1" latinLnBrk="0" hangingPunct="1">
              <a:lnSpc>
                <a:spcPct val="100000"/>
              </a:lnSpc>
              <a:buSzPct val="92000"/>
              <a:tabLst/>
              <a:defRPr/>
            </a:pPr>
            <a:r>
              <a:rPr lang="en-US" kern="1200" dirty="0">
                <a:solidFill>
                  <a:srgbClr val="3D3D3D"/>
                </a:solidFill>
                <a:latin typeface="Gill Sans MT" panose="020B0502020104020203"/>
              </a:rPr>
              <a:t>Female-female jumper cables;</a:t>
            </a:r>
            <a:endParaRPr lang="en-GB" kern="1200" dirty="0">
              <a:solidFill>
                <a:srgbClr val="3D3D3D"/>
              </a:solidFill>
              <a:latin typeface="Gill Sans MT" panose="020B0502020104020203"/>
            </a:endParaRPr>
          </a:p>
          <a:p>
            <a:pPr eaLnBrk="1" hangingPunct="1"/>
            <a:endParaRPr lang="ro-RO" altLang="ro-RO" dirty="0"/>
          </a:p>
        </p:txBody>
      </p:sp>
      <p:pic>
        <p:nvPicPr>
          <p:cNvPr id="2" name="Picture 1" descr="Servo Motors : Servo Micro SG92R FPV RC Drone 9g 2.5kg Torque ...">
            <a:extLst>
              <a:ext uri="{FF2B5EF4-FFF2-40B4-BE49-F238E27FC236}">
                <a16:creationId xmlns:a16="http://schemas.microsoft.com/office/drawing/2014/main" id="{DBA70467-22C4-EF43-9880-09031C4456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78" b="20546"/>
          <a:stretch/>
        </p:blipFill>
        <p:spPr bwMode="auto">
          <a:xfrm>
            <a:off x="1329571" y="1524000"/>
            <a:ext cx="3124200" cy="1509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4DD40F-6963-39BE-E2AD-FA7F86F2B4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2848" b="13543"/>
          <a:stretch/>
        </p:blipFill>
        <p:spPr>
          <a:xfrm>
            <a:off x="1371600" y="4495800"/>
            <a:ext cx="3082171" cy="150974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4">
            <a:extLst>
              <a:ext uri="{FF2B5EF4-FFF2-40B4-BE49-F238E27FC236}">
                <a16:creationId xmlns:a16="http://schemas.microsoft.com/office/drawing/2014/main" id="{CAE26A4F-057D-4B39-EEE0-C26D0BB828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5CD30D8-5E5C-41EB-8019-9B3C06F15628}" type="slidenum">
              <a:rPr lang="en-US" altLang="ro-RO" smtClean="0"/>
              <a:pPr/>
              <a:t>8</a:t>
            </a:fld>
            <a:endParaRPr lang="en-US" altLang="ro-RO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9B6F38FD-18BD-8CDB-67D4-B77DFE83BD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Servo motor vs. dc motor</a:t>
            </a:r>
            <a:endParaRPr lang="en-US" altLang="ro-RO" dirty="0"/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1540906A-04BC-2B91-3AA0-99F917EF3A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endParaRPr lang="en-US" altLang="ro-RO" dirty="0"/>
          </a:p>
          <a:p>
            <a:pPr marL="0" indent="0" eaLnBrk="1" hangingPunct="1">
              <a:buNone/>
            </a:pPr>
            <a:endParaRPr lang="en-US" altLang="ro-RO" dirty="0"/>
          </a:p>
          <a:p>
            <a:pPr marL="0" indent="0" eaLnBrk="1" hangingPunct="1">
              <a:buNone/>
            </a:pPr>
            <a:endParaRPr lang="en-US" altLang="ro-RO" dirty="0"/>
          </a:p>
          <a:p>
            <a:pPr marL="0" indent="0" eaLnBrk="1" hangingPunct="1">
              <a:buNone/>
            </a:pPr>
            <a:endParaRPr lang="en-US" altLang="ro-RO" dirty="0"/>
          </a:p>
          <a:p>
            <a:pPr marL="0" indent="0" eaLnBrk="1" hangingPunct="1">
              <a:buNone/>
            </a:pPr>
            <a:endParaRPr lang="en-US" altLang="ro-RO" dirty="0"/>
          </a:p>
          <a:p>
            <a:pPr marL="0" indent="0" eaLnBrk="1" hangingPunct="1">
              <a:buNone/>
            </a:pPr>
            <a:endParaRPr lang="en-US" altLang="ro-RO" dirty="0"/>
          </a:p>
          <a:p>
            <a:pPr marL="0" indent="0" eaLnBrk="1" hangingPunct="1">
              <a:buNone/>
            </a:pPr>
            <a:endParaRPr lang="en-US" altLang="ro-RO" dirty="0"/>
          </a:p>
          <a:p>
            <a:pPr marL="0" indent="0" eaLnBrk="1" hangingPunct="1">
              <a:buNone/>
            </a:pPr>
            <a:endParaRPr lang="en-US" altLang="ro-RO" dirty="0"/>
          </a:p>
          <a:p>
            <a:pPr marL="0" indent="0" eaLnBrk="1" hangingPunct="1">
              <a:buNone/>
            </a:pPr>
            <a:endParaRPr lang="en-US" altLang="ro-RO" dirty="0"/>
          </a:p>
          <a:p>
            <a:pPr marL="0" indent="0" eaLnBrk="1" hangingPunct="1">
              <a:buNone/>
            </a:pPr>
            <a:endParaRPr lang="en-US" altLang="ro-RO" dirty="0"/>
          </a:p>
          <a:p>
            <a:r>
              <a:rPr lang="en-US" dirty="0"/>
              <a:t>+: more sensitive to stimuli; can work at any speed; </a:t>
            </a:r>
          </a:p>
          <a:p>
            <a:r>
              <a:rPr lang="en-US" dirty="0"/>
              <a:t>- : lighter, less rugged;  positional ones only rotate180°;  4x more expensive;  </a:t>
            </a:r>
            <a:endParaRPr lang="en-GB" dirty="0"/>
          </a:p>
          <a:p>
            <a:pPr marL="0" indent="0" eaLnBrk="1" hangingPunct="1">
              <a:buNone/>
            </a:pPr>
            <a:endParaRPr lang="ro-RO" altLang="ro-RO" dirty="0"/>
          </a:p>
        </p:txBody>
      </p:sp>
      <p:pic>
        <p:nvPicPr>
          <p:cNvPr id="2" name="Picture 1" descr="Servo Motor | Basics, Working Principle, Theory, and More! - Solo Motor  Controllers">
            <a:extLst>
              <a:ext uri="{FF2B5EF4-FFF2-40B4-BE49-F238E27FC236}">
                <a16:creationId xmlns:a16="http://schemas.microsoft.com/office/drawing/2014/main" id="{A620E1D1-E32B-27B2-CED9-F26535A289B5}"/>
              </a:ext>
            </a:extLst>
          </p:cNvPr>
          <p:cNvPicPr>
            <a:picLocks noGrp="1"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49"/>
          <a:stretch/>
        </p:blipFill>
        <p:spPr bwMode="auto">
          <a:xfrm>
            <a:off x="2386353" y="1447800"/>
            <a:ext cx="4262012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2A0AC-6ABD-D192-BC20-6B91BD345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Servo motor vs. dc motor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16EB73-DB6C-CC73-7726-907D34C7E8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693E4C8-E758-41BE-BD5C-8D33F87552C7}" type="slidenum">
              <a:rPr lang="en-US" altLang="ro-RO" smtClean="0"/>
              <a:pPr>
                <a:defRPr/>
              </a:pPr>
              <a:t>9</a:t>
            </a:fld>
            <a:endParaRPr lang="en-US" altLang="ro-RO"/>
          </a:p>
        </p:txBody>
      </p:sp>
      <p:pic>
        <p:nvPicPr>
          <p:cNvPr id="5" name="Picture 4" descr="DC Motor - Definition, Working, Types, and FAQs">
            <a:extLst>
              <a:ext uri="{FF2B5EF4-FFF2-40B4-BE49-F238E27FC236}">
                <a16:creationId xmlns:a16="http://schemas.microsoft.com/office/drawing/2014/main" id="{0A565040-20E4-73FA-7D92-5164B0C3946C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524000"/>
            <a:ext cx="5422900" cy="335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30BBB8-CE9B-08B6-94C4-AEAEF4387A6C}"/>
              </a:ext>
            </a:extLst>
          </p:cNvPr>
          <p:cNvSpPr txBox="1"/>
          <p:nvPr/>
        </p:nvSpPr>
        <p:spPr>
          <a:xfrm>
            <a:off x="304800" y="1295400"/>
            <a:ext cx="85344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n-US" sz="2000" dirty="0">
                <a:latin typeface="+mn-lt"/>
              </a:rPr>
              <a:t>+ : works at higher speeds; more solid; cheaper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n-US" sz="2000" dirty="0">
                <a:latin typeface="+mn-lt"/>
              </a:rPr>
              <a:t>- : needs extra components to control direction and speed; less sensitive to stimuli; lags when powered;</a:t>
            </a:r>
            <a:endParaRPr lang="en-GB" sz="2000" dirty="0">
              <a:latin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881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D441D-FBF8-15A7-EF83-B13C00261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Gathering data using the mpu6050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4C49B0-5D95-494A-F8FA-A0FD069D93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693E4C8-E758-41BE-BD5C-8D33F87552C7}" type="slidenum">
              <a:rPr lang="en-US" altLang="ro-RO" smtClean="0"/>
              <a:pPr>
                <a:defRPr/>
              </a:pPr>
              <a:t>10</a:t>
            </a:fld>
            <a:endParaRPr lang="en-US" altLang="ro-RO"/>
          </a:p>
        </p:txBody>
      </p:sp>
      <p:pic>
        <p:nvPicPr>
          <p:cNvPr id="5" name="Content Placeholder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9C9B53FE-E45A-C8EB-8431-D7A71C029450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2"/>
          <a:srcRect l="1595" r="1510"/>
          <a:stretch/>
        </p:blipFill>
        <p:spPr>
          <a:xfrm>
            <a:off x="280555" y="3215926"/>
            <a:ext cx="4106479" cy="27708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1C91FF-EA3D-8F03-278F-F20127D826C4}"/>
              </a:ext>
            </a:extLst>
          </p:cNvPr>
          <p:cNvSpPr txBox="1"/>
          <p:nvPr/>
        </p:nvSpPr>
        <p:spPr>
          <a:xfrm>
            <a:off x="381000" y="1417975"/>
            <a:ext cx="8458200" cy="19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n-US" sz="1800" dirty="0">
                <a:latin typeface="+mn-lt"/>
              </a:rPr>
              <a:t>3-axis accelerometer;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n-US" sz="1800" dirty="0">
                <a:latin typeface="+mn-lt"/>
              </a:rPr>
              <a:t>3-axis gyroscope;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n-US" sz="1800" dirty="0">
                <a:latin typeface="+mn-lt"/>
              </a:rPr>
              <a:t>Calculates the angle it has on each axis and sends certain data to the motors as degrees;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n-US" sz="1800" dirty="0">
                <a:latin typeface="+mn-lt"/>
              </a:rPr>
              <a:t>Uses I2C data bus;</a:t>
            </a:r>
          </a:p>
          <a:p>
            <a:endParaRPr lang="en-US" dirty="0"/>
          </a:p>
        </p:txBody>
      </p:sp>
      <p:pic>
        <p:nvPicPr>
          <p:cNvPr id="10" name="Picture 9" descr="MEMS Gyroscope Working">
            <a:extLst>
              <a:ext uri="{FF2B5EF4-FFF2-40B4-BE49-F238E27FC236}">
                <a16:creationId xmlns:a16="http://schemas.microsoft.com/office/drawing/2014/main" id="{63D0F1E9-5399-F148-C349-481314D08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451" y="3284488"/>
            <a:ext cx="4402994" cy="2630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5913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F5CAA-B3E6-4080-FAA9-8B1258F84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Master  microcontroller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3A6480-B5C1-21A7-B29B-40678850C0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693E4C8-E758-41BE-BD5C-8D33F87552C7}" type="slidenum">
              <a:rPr lang="en-US" altLang="ro-RO" smtClean="0"/>
              <a:pPr>
                <a:defRPr/>
              </a:pPr>
              <a:t>11</a:t>
            </a:fld>
            <a:endParaRPr lang="en-US" altLang="ro-RO"/>
          </a:p>
        </p:txBody>
      </p:sp>
      <p:pic>
        <p:nvPicPr>
          <p:cNvPr id="5" name="Picture 4" descr="ESP32 MPU6050 Accelerometer, Gyroscope, Temperature (Arduino IDE)">
            <a:extLst>
              <a:ext uri="{FF2B5EF4-FFF2-40B4-BE49-F238E27FC236}">
                <a16:creationId xmlns:a16="http://schemas.microsoft.com/office/drawing/2014/main" id="{012E1585-6DC0-EA68-E7ED-949BF0129703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1302461"/>
            <a:ext cx="4953000" cy="3726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59DFA3-E097-FDA1-C9AD-F6BA9FA26984}"/>
              </a:ext>
            </a:extLst>
          </p:cNvPr>
          <p:cNvSpPr txBox="1"/>
          <p:nvPr/>
        </p:nvSpPr>
        <p:spPr>
          <a:xfrm>
            <a:off x="609600" y="5029200"/>
            <a:ext cx="8077200" cy="1255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n-US" dirty="0">
                <a:latin typeface="+mn-lt"/>
              </a:rPr>
              <a:t>ESP32 acts as a ‘master’ in the Bluetooth  connection;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n-US" dirty="0">
                <a:latin typeface="+mn-lt"/>
              </a:rPr>
              <a:t>ESP32 reads data from MPU6050 and sends said data via the integrated Bluetooth module to the ‘slave’ microcontroller;</a:t>
            </a:r>
            <a:endParaRPr lang="en-GB" dirty="0">
              <a:latin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75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4">
            <a:extLst>
              <a:ext uri="{FF2B5EF4-FFF2-40B4-BE49-F238E27FC236}">
                <a16:creationId xmlns:a16="http://schemas.microsoft.com/office/drawing/2014/main" id="{E6363469-8492-1603-78E9-757BAE6BCC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6F09FC63-85BC-44A9-A4C7-3D636B3AFD31}" type="slidenum">
              <a:rPr lang="en-US" altLang="ro-RO" smtClean="0"/>
              <a:pPr/>
              <a:t>12</a:t>
            </a:fld>
            <a:endParaRPr lang="en-US" altLang="ro-RO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1856FF64-5702-ED5E-01C2-65A42927AB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Slave  microcontroller</a:t>
            </a:r>
            <a:endParaRPr lang="en-US" altLang="ro-RO" dirty="0"/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AD167F7B-0CE5-0E02-8FF1-4219A89347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endParaRPr lang="en-US" altLang="ro-RO" dirty="0"/>
          </a:p>
          <a:p>
            <a:pPr marL="0" indent="0" eaLnBrk="1" hangingPunct="1">
              <a:buNone/>
            </a:pPr>
            <a:endParaRPr lang="en-US" altLang="ro-RO" dirty="0"/>
          </a:p>
          <a:p>
            <a:pPr marL="0" indent="0" eaLnBrk="1" hangingPunct="1">
              <a:buNone/>
            </a:pPr>
            <a:endParaRPr lang="en-US" altLang="ro-RO" dirty="0"/>
          </a:p>
          <a:p>
            <a:pPr marL="0" indent="0" eaLnBrk="1" hangingPunct="1">
              <a:buNone/>
            </a:pPr>
            <a:endParaRPr lang="en-US" altLang="ro-RO" dirty="0"/>
          </a:p>
          <a:p>
            <a:pPr marL="0" indent="0" eaLnBrk="1" hangingPunct="1">
              <a:buNone/>
            </a:pPr>
            <a:endParaRPr lang="en-US" altLang="ro-RO" dirty="0"/>
          </a:p>
          <a:p>
            <a:pPr marL="0" indent="0" eaLnBrk="1" hangingPunct="1">
              <a:buNone/>
            </a:pPr>
            <a:endParaRPr lang="en-US" altLang="ro-RO" dirty="0"/>
          </a:p>
          <a:p>
            <a:pPr marL="0" indent="0" eaLnBrk="1" hangingPunct="1">
              <a:buNone/>
            </a:pPr>
            <a:endParaRPr lang="en-US" altLang="ro-RO" dirty="0"/>
          </a:p>
          <a:p>
            <a:pPr marL="0" indent="0" eaLnBrk="1" hangingPunct="1">
              <a:buNone/>
            </a:pPr>
            <a:endParaRPr lang="en-US" altLang="ro-RO" dirty="0"/>
          </a:p>
          <a:p>
            <a:r>
              <a:rPr lang="en-US" dirty="0"/>
              <a:t>- The Arduino Leonardo microcontroller does not have an integrated Bluetooth module, so we must use a ZS-040 HC-05/-06;</a:t>
            </a:r>
          </a:p>
          <a:p>
            <a:r>
              <a:rPr lang="en-US" dirty="0"/>
              <a:t>- This microcontroller acts as the ‘slave’ in the  Bluetooth connection, as it acts upon the data that it receives from the ‘master’ microcontroller;</a:t>
            </a:r>
            <a:endParaRPr lang="en-GB" dirty="0"/>
          </a:p>
          <a:p>
            <a:pPr marL="0" indent="0" eaLnBrk="1" hangingPunct="1">
              <a:buNone/>
            </a:pPr>
            <a:endParaRPr lang="en-US" altLang="ro-RO" dirty="0"/>
          </a:p>
        </p:txBody>
      </p:sp>
      <p:pic>
        <p:nvPicPr>
          <p:cNvPr id="2" name="Picture 1" descr="Arduino Leonardo and HC 05 bluetooth - Programming Questions - Arduino Forum">
            <a:extLst>
              <a:ext uri="{FF2B5EF4-FFF2-40B4-BE49-F238E27FC236}">
                <a16:creationId xmlns:a16="http://schemas.microsoft.com/office/drawing/2014/main" id="{D9681753-E70F-5E50-55F7-233743B92A6A}"/>
              </a:ext>
            </a:extLst>
          </p:cNvPr>
          <p:cNvPicPr>
            <a:picLocks noGrp="1"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37" b="15227"/>
          <a:stretch/>
        </p:blipFill>
        <p:spPr bwMode="auto">
          <a:xfrm>
            <a:off x="1371600" y="1295400"/>
            <a:ext cx="6104157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CC0AB-8875-C3D5-53DA-2D77215DC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libraries used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A63201-14C0-AD23-9953-24ABE39CE4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693E4C8-E758-41BE-BD5C-8D33F87552C7}" type="slidenum">
              <a:rPr lang="en-US" altLang="ro-RO" smtClean="0"/>
              <a:pPr>
                <a:defRPr/>
              </a:pPr>
              <a:t>13</a:t>
            </a:fld>
            <a:endParaRPr lang="en-US" altLang="ro-RO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2D26C4-7ED6-C584-90B1-684D22B342B4}"/>
              </a:ext>
            </a:extLst>
          </p:cNvPr>
          <p:cNvSpPr txBox="1"/>
          <p:nvPr/>
        </p:nvSpPr>
        <p:spPr>
          <a:xfrm>
            <a:off x="381000" y="1447800"/>
            <a:ext cx="845820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n-GB" sz="2000" dirty="0">
                <a:latin typeface="+mn-lt"/>
              </a:rPr>
              <a:t>&lt;</a:t>
            </a:r>
            <a:r>
              <a:rPr lang="en-GB" sz="2000" dirty="0" err="1">
                <a:latin typeface="+mn-lt"/>
              </a:rPr>
              <a:t>SoftwareSerial.h</a:t>
            </a:r>
            <a:r>
              <a:rPr lang="en-GB" sz="2000" dirty="0">
                <a:latin typeface="+mn-lt"/>
              </a:rPr>
              <a:t>&gt; - used in the Arduino Leonardo microcontroller for it to read the data transmitted by the ESP32 microcontroller via Bluetooth; 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endParaRPr lang="en-GB" sz="200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n-GB" sz="2000" dirty="0">
                <a:latin typeface="+mn-lt"/>
              </a:rPr>
              <a:t>&lt;</a:t>
            </a:r>
            <a:r>
              <a:rPr lang="en-GB" sz="2000" dirty="0" err="1">
                <a:latin typeface="+mn-lt"/>
              </a:rPr>
              <a:t>Servo.h</a:t>
            </a:r>
            <a:r>
              <a:rPr lang="en-GB" sz="2000" dirty="0">
                <a:latin typeface="+mn-lt"/>
              </a:rPr>
              <a:t>&gt; - used in the Arduino Leonardo microcontroller in order to command the two servo motors;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endParaRPr lang="en-GB" sz="200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n-GB" sz="2000" dirty="0">
                <a:latin typeface="+mn-lt"/>
              </a:rPr>
              <a:t>&lt;</a:t>
            </a:r>
            <a:r>
              <a:rPr lang="en-GB" sz="2000" dirty="0" err="1">
                <a:latin typeface="+mn-lt"/>
              </a:rPr>
              <a:t>BluetoothSerial.h</a:t>
            </a:r>
            <a:r>
              <a:rPr lang="en-GB" sz="2000" dirty="0">
                <a:latin typeface="+mn-lt"/>
              </a:rPr>
              <a:t>&gt; - used in the ESP32 microcontroller in order to make it Bluetooth available and transmit data to the Arduino Leonardo microcontroller;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endParaRPr lang="en-GB" sz="200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n-GB" sz="2000" dirty="0">
                <a:latin typeface="+mn-lt"/>
              </a:rPr>
              <a:t>&lt;MPU6050_light.h&gt; - used in the ESP32 microcontroller in order to read and compute the data sent by the MPU6050 accelerometer/gyroscope;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597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68E7-7436-2A1C-FE7A-89A78E60F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device already in use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36F3D0-A001-39C4-9660-30510ED798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693E4C8-E758-41BE-BD5C-8D33F87552C7}" type="slidenum">
              <a:rPr lang="en-US" altLang="ro-RO" smtClean="0"/>
              <a:pPr>
                <a:defRPr/>
              </a:pPr>
              <a:t>14</a:t>
            </a:fld>
            <a:endParaRPr lang="en-US" altLang="ro-RO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EEAC47-3853-E13D-5D9E-965520FC3ACD}"/>
              </a:ext>
            </a:extLst>
          </p:cNvPr>
          <p:cNvSpPr txBox="1"/>
          <p:nvPr/>
        </p:nvSpPr>
        <p:spPr>
          <a:xfrm>
            <a:off x="228600" y="1164040"/>
            <a:ext cx="85344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n-US" sz="2000" dirty="0">
                <a:latin typeface="+mn-lt"/>
              </a:rPr>
              <a:t>Attack helicopters;    </a:t>
            </a:r>
          </a:p>
          <a:p>
            <a:endParaRPr lang="en-US" dirty="0"/>
          </a:p>
        </p:txBody>
      </p:sp>
      <p:pic>
        <p:nvPicPr>
          <p:cNvPr id="5" name="Picture 4" descr="How do attack helicopter gunners aim cannons and missiles? What's the  interface like? - Quora">
            <a:extLst>
              <a:ext uri="{FF2B5EF4-FFF2-40B4-BE49-F238E27FC236}">
                <a16:creationId xmlns:a16="http://schemas.microsoft.com/office/drawing/2014/main" id="{78B43272-8C24-D5BA-209D-AC3C6F3515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846831"/>
            <a:ext cx="2863273" cy="1906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How do attack helicopter gunners aim cannons and missiles? What's the  interface like? - Quora">
            <a:extLst>
              <a:ext uri="{FF2B5EF4-FFF2-40B4-BE49-F238E27FC236}">
                <a16:creationId xmlns:a16="http://schemas.microsoft.com/office/drawing/2014/main" id="{72E5E112-F85E-CEAC-DFD8-0A632D8F4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841148"/>
            <a:ext cx="2863274" cy="1912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0ADB52-65C1-2491-21BC-1F33FB5E8D36}"/>
              </a:ext>
            </a:extLst>
          </p:cNvPr>
          <p:cNvSpPr txBox="1"/>
          <p:nvPr/>
        </p:nvSpPr>
        <p:spPr>
          <a:xfrm>
            <a:off x="294409" y="3834752"/>
            <a:ext cx="34290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n-US" sz="2000" dirty="0">
                <a:latin typeface="+mn-lt"/>
              </a:rPr>
              <a:t>Camera gimbals;</a:t>
            </a:r>
            <a:endParaRPr lang="en-GB" sz="2000" dirty="0">
              <a:latin typeface="+mn-lt"/>
            </a:endParaRPr>
          </a:p>
          <a:p>
            <a:endParaRPr lang="en-US" dirty="0"/>
          </a:p>
        </p:txBody>
      </p:sp>
      <p:pic>
        <p:nvPicPr>
          <p:cNvPr id="8" name="Picture 7" descr="Best Gimbal and Camera Stabilizer 2022 | B&amp;H eXplora">
            <a:extLst>
              <a:ext uri="{FF2B5EF4-FFF2-40B4-BE49-F238E27FC236}">
                <a16:creationId xmlns:a16="http://schemas.microsoft.com/office/drawing/2014/main" id="{F22B4B92-631B-1744-12C2-6AB8F0EBB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4343400"/>
            <a:ext cx="2863274" cy="198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1776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4750D-9341-1549-052B-1E1759BFA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13D2FE-EF14-F084-6034-5830209456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693E4C8-E758-41BE-BD5C-8D33F87552C7}" type="slidenum">
              <a:rPr lang="en-US" altLang="ro-RO" smtClean="0"/>
              <a:pPr>
                <a:defRPr/>
              </a:pPr>
              <a:t>15</a:t>
            </a:fld>
            <a:endParaRPr lang="en-US" altLang="ro-RO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4D1091-A26F-A481-17D6-739A6DE519EA}"/>
              </a:ext>
            </a:extLst>
          </p:cNvPr>
          <p:cNvSpPr txBox="1"/>
          <p:nvPr/>
        </p:nvSpPr>
        <p:spPr>
          <a:xfrm>
            <a:off x="381000" y="1447800"/>
            <a:ext cx="838200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n-US" sz="2000" dirty="0">
                <a:latin typeface="+mn-lt"/>
              </a:rPr>
              <a:t>Unfortunately, because of some unexpected technical issues, we are unable to produce a fully wireless prototype (establishing the Bluetooth between the two microcontroller). And so, we decided to bring a wired prototype to demonstrate how the full device was envisioned to look like.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n-US" sz="2000" dirty="0">
                <a:latin typeface="+mn-lt"/>
              </a:rPr>
              <a:t>Our further goal is exactly to convert this device to become fully wireless and independent of the distance between the user and the module itself.</a:t>
            </a:r>
          </a:p>
        </p:txBody>
      </p:sp>
    </p:spTree>
    <p:extLst>
      <p:ext uri="{BB962C8B-B14F-4D97-AF65-F5344CB8AC3E}">
        <p14:creationId xmlns:p14="http://schemas.microsoft.com/office/powerpoint/2010/main" val="1886199501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ro-RO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ro-RO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EE0D4ECDBCC745922D7A6C9EAA95DB" ma:contentTypeVersion="4" ma:contentTypeDescription="Create a new document." ma:contentTypeScope="" ma:versionID="7850ddbfe4bdc04dba280959f0557373">
  <xsd:schema xmlns:xsd="http://www.w3.org/2001/XMLSchema" xmlns:xs="http://www.w3.org/2001/XMLSchema" xmlns:p="http://schemas.microsoft.com/office/2006/metadata/properties" xmlns:ns2="fb639802-3888-46cb-9317-603b3422257e" targetNamespace="http://schemas.microsoft.com/office/2006/metadata/properties" ma:root="true" ma:fieldsID="34ee7ddf18817001c0dbbd53a9c5914a" ns2:_="">
    <xsd:import namespace="fb639802-3888-46cb-9317-603b342225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639802-3888-46cb-9317-603b342225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3F1824-9B72-4F39-B6C3-C74854A0A1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82477C1-BA3E-4E0F-B00F-FCE80EF728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639802-3888-46cb-9317-603b342225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362</TotalTime>
  <Words>603</Words>
  <Application>Microsoft Office PowerPoint</Application>
  <PresentationFormat>On-screen Show (4:3)</PresentationFormat>
  <Paragraphs>136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Gill Sans MT</vt:lpstr>
      <vt:lpstr>Verdana</vt:lpstr>
      <vt:lpstr>Wingdings</vt:lpstr>
      <vt:lpstr>Profile</vt:lpstr>
      <vt:lpstr>Wireless MOTION REPLICATING MODULE</vt:lpstr>
      <vt:lpstr>Table of contents</vt:lpstr>
      <vt:lpstr>Concept of work</vt:lpstr>
      <vt:lpstr>Components </vt:lpstr>
      <vt:lpstr>Components </vt:lpstr>
      <vt:lpstr>Components</vt:lpstr>
      <vt:lpstr>Components</vt:lpstr>
      <vt:lpstr>Servo motor vs. dc motor</vt:lpstr>
      <vt:lpstr>Servo motor vs. dc motor</vt:lpstr>
      <vt:lpstr>Gathering data using the mpu6050</vt:lpstr>
      <vt:lpstr>Master  microcontroller</vt:lpstr>
      <vt:lpstr>Slave  microcontroller</vt:lpstr>
      <vt:lpstr>Code libraries used</vt:lpstr>
      <vt:lpstr>Examples of device already in use</vt:lpstr>
      <vt:lpstr>Conclusions</vt:lpstr>
    </vt:vector>
  </TitlesOfParts>
  <Company>acasa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Model_PPT-2023</dc:title>
  <dc:subject>Model_PPT-2020</dc:subject>
  <dc:creator>Norocel - Dragos CODREANU (23475)</dc:creator>
  <cp:lastModifiedBy>Andrei-Alexandru ANGHELUŢĂ (131556)</cp:lastModifiedBy>
  <cp:revision>43</cp:revision>
  <dcterms:created xsi:type="dcterms:W3CDTF">2006-05-10T18:30:34Z</dcterms:created>
  <dcterms:modified xsi:type="dcterms:W3CDTF">2025-03-07T20:46:52Z</dcterms:modified>
</cp:coreProperties>
</file>